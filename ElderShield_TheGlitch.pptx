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333be7f-c4a0-cabf-e50a-e7aaaabe8eb9}">
          <p14:sldIdLst>
            <p14:sldId id="256"/>
          </p14:sldIdLst>
        </p14:section>
        <p14:section name="Idea" id="{41bb967c-6658-50be-523d-7ee929323336}">
          <p14:sldIdLst>
            <p14:sldId id="257"/>
            <p14:sldId id="258"/>
          </p14:sldIdLst>
        </p14:section>
        <p14:section name="Build" id="{6f984685-8d9d-d798-e965-3783066ed09d}">
          <p14:sldIdLst>
            <p14:sldId id="259"/>
            <p14:sldId id="260"/>
            <p14:sldId id="261"/>
          </p14:sldIdLst>
        </p14:section>
        <p14:section name="Demo" id="{7a173d79-da5b-836b-a4ac-3138e622a8f5}">
          <p14:sldIdLst>
            <p14:sldId id="262"/>
            <p14:sldId id="263"/>
          </p14:sldIdLst>
        </p14:section>
        <p14:section name="Proof" id="{c1527476-0344-960d-fe7c-a62315fc2dc2}">
          <p14:sldIdLst>
            <p14:sldId id="264"/>
          </p14:sldIdLst>
        </p14:section>
        <p14:section name="Close" id="{e1c4a471-fc3b-8002-8c97-57fd60818e05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B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1B33"/>
                </a:solidFill>
                <a:latin typeface="+mn-lt"/>
              </a:rPr>
              <a:t>Why is the risk high? (SHAP impact)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SHAP impact</c:v>
                </c:pt>
              </c:strCache>
            </c:strRef>
          </c:tx>
          <c:spPr>
            <a:solidFill>
              <a:srgbClr val="E5484D"/>
            </a:solidFill>
            <a:effectLst/>
          </c:spPr>
          <c:invertIfNegative val="0"/>
          <c:dLbls>
            <c:numFmt formatCode="+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B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Smoking</c:v>
                  </c:pt>
                  <c:pt idx="1">
                    <c:v>Hypertension</c:v>
                  </c:pt>
                  <c:pt idx="2">
                    <c:v>Age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0.17</c:v>
                </c:pt>
                <c:pt idx="1">
                  <c:v>0.35</c:v>
                </c:pt>
                <c:pt idx="2">
                  <c:v>0.87</c:v>
                </c:pt>
              </c:numCache>
            </c:numRef>
          </c:val>
        </c:ser>
        <c:dLbls>
          <c:numFmt formatCode="+0.00" sourceLinked="0"/>
          <c:txPr>
            <a:bodyPr/>
            <a:lstStyle/>
            <a:p>
              <a:pPr>
                <a:defRPr b="0" i="0" strike="noStrike" sz="1200" u="none">
                  <a:solidFill>
                    <a:srgbClr val="0B1B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1B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DD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C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B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1B33"/>
                </a:solidFill>
                <a:latin typeface="+mn-lt"/>
              </a:rPr>
              <a:t>What-if: change in risk score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in score</c:v>
                </c:pt>
              </c:strCache>
            </c:strRef>
          </c:tx>
          <c:spPr>
            <a:solidFill>
              <a:srgbClr val="2E9E6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B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Quit smoking</c:v>
                  </c:pt>
                  <c:pt idx="1">
                    <c:v>Control hypertension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-0.055</c:v>
                </c:pt>
                <c:pt idx="1">
                  <c:v>-0.049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0B1B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high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1B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0.08"/>
        </c:scaling>
        <c:delete val="0"/>
        <c:axPos val="b"/>
        <c:majorGridlines>
          <c:spPr>
            <a:ln w="6350" cap="flat">
              <a:solidFill>
                <a:srgbClr val="DD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C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B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1B33"/>
                </a:solidFill>
                <a:latin typeface="+mn-lt"/>
              </a:rPr>
              <a:t>Recall vs precision by threshold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FA3A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1B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0.3</c:v>
                  </c:pt>
                  <c:pt idx="1">
                    <c:v>0.5</c:v>
                  </c:pt>
                  <c:pt idx="2">
                    <c:v>0.7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</c:v>
                </c:pt>
                <c:pt idx="1">
                  <c:v>0.72</c:v>
                </c:pt>
                <c:pt idx="2">
                  <c:v>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5B7C9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1B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0.3</c:v>
                  </c:pt>
                  <c:pt idx="1">
                    <c:v>0.5</c:v>
                  </c:pt>
                  <c:pt idx="2">
                    <c:v>0.7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0.105</c:v>
                </c:pt>
                <c:pt idx="1">
                  <c:v>0.135</c:v>
                </c:pt>
                <c:pt idx="2">
                  <c:v>0.184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B1B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7C99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7C99"/>
                    </a:solidFill>
                    <a:latin typeface="+mn-lt"/>
                  </a:rPr>
                  <a:t>Decision threshold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1B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D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C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B1B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idea: a digital twin for every elderly person that predicts stroke risk, explains it, and alerts caregivers.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gaps: risk is invisible, falls are unseen, and caregivers only get snapshots. ElderShield closes all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capabilities: predict, explain, what-if, monitor. Stress that it supports caregivers and does not replace a doctor.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flows left to right. The dashboard and alerts all call one FastAPI backend that wraps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Monotonic constraints force the model to respect basic medical logic (more age or hypertension never lowers risk). This also improved the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SHAP shows age is the biggest driver, then hypertension and smoking. Right: re-scoring with one change at a time lowers the score. Say clearly these are model estimates.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Check risk. Explain the band, then the SHAP reasons, then the what-if rows. Say it is a model-based estimate, clinical validation is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Press Reset simulation about 40 seconds before this slide so WARNING and ALERT appear on their own. Then press Simulate fall.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recall and PR-AUC, not accuracy, because the data is imbalanced. Numbers can shift a little because the test set has only 50 stroke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limits; it builds trust. Close with the roadmap: real fall model, wearable, alerts, privacy.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thanking the judges and inviting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51206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ElderShield  |  Team The_Glitch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ElderShield  |  Team The_Glitch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ElderShield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1945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Predictive Digital Twin for Stroke and Fall Prevention in Geriatric Care</a:t>
            </a:r>
            <a:endParaRPr lang="en-US" sz="1800" dirty="0"/>
          </a:p>
        </p:txBody>
      </p:sp>
      <p:sp>
        <p:nvSpPr>
          <p:cNvPr id="4" name="Hero circle"/>
          <p:cNvSpPr/>
          <p:nvPr/>
        </p:nvSpPr>
        <p:spPr>
          <a:xfrm>
            <a:off x="6309360" y="960120"/>
            <a:ext cx="2194560" cy="21945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Hero icon" descr="Shiel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508760"/>
            <a:ext cx="1097280" cy="1097280"/>
          </a:xfrm>
          <a:prstGeom prst="rect">
            <a:avLst/>
          </a:prstGeom>
        </p:spPr>
      </p:pic>
      <p:sp>
        <p:nvSpPr>
          <p:cNvPr id="6" name="Team block"/>
          <p:cNvSpPr txBox="1"/>
          <p:nvPr/>
        </p:nvSpPr>
        <p:spPr>
          <a:xfrm>
            <a:off x="548640" y="3154680"/>
            <a:ext cx="5120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Team The_Glitch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Deva Pandit, Team Leader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A9BCD0"/>
                </a:solidFill>
              </a:rPr>
              <a:t>R R P G College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Puneet Singh, Member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A9BCD0"/>
                </a:solidFill>
              </a:rPr>
              <a:t>Noida Institute of Engineering and Technology</a:t>
            </a:r>
            <a:endParaRPr lang="en-US" sz="2000" dirty="0"/>
          </a:p>
        </p:txBody>
      </p:sp>
      <p:sp>
        <p:nvSpPr>
          <p:cNvPr id="7" name="ECG line"/>
          <p:cNvSpPr/>
          <p:nvPr/>
        </p:nvSpPr>
        <p:spPr>
          <a:xfrm>
            <a:off x="5669280" y="3474720"/>
            <a:ext cx="3017520" cy="731520"/>
          </a:xfrm>
          <a:custGeom>
            <a:avLst/>
            <a:gdLst/>
            <a:ahLst/>
            <a:cxnLst/>
            <a:rect l="l" t="t" r="r" b="b"/>
            <a:pathLst>
              <a:path w="3017520" h="731520">
                <a:moveTo>
                  <a:pt x="0" y="365760"/>
                </a:moveTo>
                <a:lnTo>
                  <a:pt x="731520" y="365760"/>
                </a:lnTo>
                <a:lnTo>
                  <a:pt x="868680" y="228600"/>
                </a:lnTo>
                <a:lnTo>
                  <a:pt x="1005840" y="365760"/>
                </a:lnTo>
                <a:lnTo>
                  <a:pt x="1188720" y="365760"/>
                </a:lnTo>
                <a:lnTo>
                  <a:pt x="1298448" y="502920"/>
                </a:lnTo>
                <a:lnTo>
                  <a:pt x="1463040" y="0"/>
                </a:lnTo>
                <a:lnTo>
                  <a:pt x="1645920" y="731520"/>
                </a:lnTo>
                <a:lnTo>
                  <a:pt x="1783080" y="365760"/>
                </a:lnTo>
                <a:lnTo>
                  <a:pt x="2011680" y="365760"/>
                </a:lnTo>
                <a:lnTo>
                  <a:pt x="2194560" y="182880"/>
                </a:lnTo>
                <a:lnTo>
                  <a:pt x="2377440" y="365760"/>
                </a:lnTo>
                <a:lnTo>
                  <a:pt x="3017520" y="365760"/>
                </a:lnTo>
              </a:path>
            </a:pathLst>
          </a:custGeom>
          <a:ln w="31750">
            <a:solidFill>
              <a:schemeClr val="accent1"/>
            </a:solidFill>
            <a:prstDash val="solid"/>
          </a:ln>
        </p:spPr>
      </p:sp>
      <p:sp>
        <p:nvSpPr>
          <p:cNvPr id="8" name="Theme tags"/>
          <p:cNvSpPr txBox="1"/>
          <p:nvPr/>
        </p:nvSpPr>
        <p:spPr>
          <a:xfrm>
            <a:off x="4937760" y="4343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AI  |  Healthcare  |  Data Science  |  Digital Health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problem: help arrives too late</a:t>
            </a:r>
            <a:endParaRPr lang="en-US" sz="3400" dirty="0"/>
          </a:p>
        </p:txBody>
      </p:sp>
      <p:sp>
        <p:nvSpPr>
          <p:cNvPr id="3" name="Problem card 1"/>
          <p:cNvSpPr/>
          <p:nvPr/>
        </p:nvSpPr>
        <p:spPr>
          <a:xfrm>
            <a:off x="548640" y="1371600"/>
            <a:ext cx="2532888" cy="3017520"/>
          </a:xfrm>
          <a:prstGeom prst="roundRect">
            <a:avLst>
              <a:gd name="adj" fmla="val 4332"/>
            </a:avLst>
          </a:prstGeom>
          <a:solidFill>
            <a:schemeClr val="bg2"/>
          </a:solidFill>
          <a:ln/>
        </p:spPr>
      </p:sp>
      <p:sp>
        <p:nvSpPr>
          <p:cNvPr id="4" name="Problem 1 circle"/>
          <p:cNvSpPr/>
          <p:nvPr/>
        </p:nvSpPr>
        <p:spPr>
          <a:xfrm>
            <a:off x="777240" y="16002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Problem 1 icon" descr="Problem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17785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468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Stroke risk goes unnoticed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1089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Age and blood pressure build risk quietly. Nobody tracks it day to day.</a:t>
            </a:r>
            <a:endParaRPr lang="en-US" sz="1400" dirty="0"/>
          </a:p>
        </p:txBody>
      </p:sp>
      <p:sp>
        <p:nvSpPr>
          <p:cNvPr id="8" name="Problem card 2"/>
          <p:cNvSpPr/>
          <p:nvPr/>
        </p:nvSpPr>
        <p:spPr>
          <a:xfrm>
            <a:off x="3355848" y="1371600"/>
            <a:ext cx="2532888" cy="3017520"/>
          </a:xfrm>
          <a:prstGeom prst="roundRect">
            <a:avLst>
              <a:gd name="adj" fmla="val 4332"/>
            </a:avLst>
          </a:prstGeom>
          <a:solidFill>
            <a:schemeClr val="bg2"/>
          </a:solidFill>
          <a:ln/>
        </p:spPr>
      </p:sp>
      <p:sp>
        <p:nvSpPr>
          <p:cNvPr id="9" name="Problem 2 circle"/>
          <p:cNvSpPr/>
          <p:nvPr/>
        </p:nvSpPr>
        <p:spPr>
          <a:xfrm>
            <a:off x="3584448" y="16002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Problem 2 icon" descr="Problem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756" y="177850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84448" y="2468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Falls go unseen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84448" y="31089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 elder living alone can lie on the floor for a long time before anyone knows.</a:t>
            </a:r>
            <a:endParaRPr lang="en-US" sz="1400" dirty="0"/>
          </a:p>
        </p:txBody>
      </p:sp>
      <p:sp>
        <p:nvSpPr>
          <p:cNvPr id="13" name="Problem card 3"/>
          <p:cNvSpPr/>
          <p:nvPr/>
        </p:nvSpPr>
        <p:spPr>
          <a:xfrm>
            <a:off x="6163056" y="1371600"/>
            <a:ext cx="2532888" cy="3017520"/>
          </a:xfrm>
          <a:prstGeom prst="roundRect">
            <a:avLst>
              <a:gd name="adj" fmla="val 4332"/>
            </a:avLst>
          </a:prstGeom>
          <a:solidFill>
            <a:schemeClr val="bg2"/>
          </a:solidFill>
          <a:ln/>
        </p:spPr>
      </p:sp>
      <p:sp>
        <p:nvSpPr>
          <p:cNvPr id="14" name="Problem 3 circle"/>
          <p:cNvSpPr/>
          <p:nvPr/>
        </p:nvSpPr>
        <p:spPr>
          <a:xfrm>
            <a:off x="6391656" y="16002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Problem 3 icon" descr="Problem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964" y="177850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91656" y="2468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Caregivers see snapshots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91656" y="31089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Families see check-up numbers, not the trend in between.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ElderShield: one digital twin per elder</a:t>
            </a:r>
            <a:endParaRPr lang="en-US" sz="3400" dirty="0"/>
          </a:p>
        </p:txBody>
      </p:sp>
      <p:sp>
        <p:nvSpPr>
          <p:cNvPr id="3" name="Solution card 1"/>
          <p:cNvSpPr/>
          <p:nvPr/>
        </p:nvSpPr>
        <p:spPr>
          <a:xfrm>
            <a:off x="548640" y="1325880"/>
            <a:ext cx="1828800" cy="26060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4" name="Solution 1 circle"/>
          <p:cNvSpPr/>
          <p:nvPr/>
        </p:nvSpPr>
        <p:spPr>
          <a:xfrm>
            <a:off x="77724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olution 1 icon" descr="Soluti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72090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4320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Stroke risk score with Low, Medium and High bands.</a:t>
            </a:r>
            <a:endParaRPr lang="en-US" sz="1400" dirty="0"/>
          </a:p>
        </p:txBody>
      </p:sp>
      <p:sp>
        <p:nvSpPr>
          <p:cNvPr id="8" name="Solution card 2"/>
          <p:cNvSpPr/>
          <p:nvPr/>
        </p:nvSpPr>
        <p:spPr>
          <a:xfrm>
            <a:off x="2624328" y="1325880"/>
            <a:ext cx="1828800" cy="26060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9" name="Solution 2 circle"/>
          <p:cNvSpPr/>
          <p:nvPr/>
        </p:nvSpPr>
        <p:spPr>
          <a:xfrm>
            <a:off x="2852928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Solution 2 icon" descr="Soluti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349" y="172090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07208" y="2331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Explain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2807208" y="274320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SHAP shows why: age, blood pressure, smoking.</a:t>
            </a:r>
            <a:endParaRPr lang="en-US" sz="1400" dirty="0"/>
          </a:p>
        </p:txBody>
      </p:sp>
      <p:sp>
        <p:nvSpPr>
          <p:cNvPr id="13" name="Solution card 3"/>
          <p:cNvSpPr/>
          <p:nvPr/>
        </p:nvSpPr>
        <p:spPr>
          <a:xfrm>
            <a:off x="4700016" y="1325880"/>
            <a:ext cx="1828800" cy="26060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4" name="Solution 3 circle"/>
          <p:cNvSpPr/>
          <p:nvPr/>
        </p:nvSpPr>
        <p:spPr>
          <a:xfrm>
            <a:off x="4928616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Solution 3 icon" descr="Soluti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037" y="172090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82896" y="2331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What-if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4882896" y="274320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See how risk moves if hypertension or smoking changes.</a:t>
            </a:r>
            <a:endParaRPr lang="en-US" sz="1400" dirty="0"/>
          </a:p>
        </p:txBody>
      </p:sp>
      <p:sp>
        <p:nvSpPr>
          <p:cNvPr id="18" name="Solution card 4"/>
          <p:cNvSpPr/>
          <p:nvPr/>
        </p:nvSpPr>
        <p:spPr>
          <a:xfrm>
            <a:off x="6775704" y="1325880"/>
            <a:ext cx="1828800" cy="26060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9" name="Solution 4 circle"/>
          <p:cNvSpPr/>
          <p:nvPr/>
        </p:nvSpPr>
        <p:spPr>
          <a:xfrm>
            <a:off x="7004304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Solution 4 icon" descr="Soluti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725" y="172090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58584" y="2331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Monitor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958584" y="274320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Live vitals and fall events trigger caregiver alerts.</a:t>
            </a:r>
            <a:endParaRPr lang="en-US" sz="1400" dirty="0"/>
          </a:p>
        </p:txBody>
      </p:sp>
      <p:sp>
        <p:nvSpPr>
          <p:cNvPr id="23" name="Disclaimer strip"/>
          <p:cNvSpPr/>
          <p:nvPr/>
        </p:nvSpPr>
        <p:spPr>
          <a:xfrm>
            <a:off x="548640" y="4114800"/>
            <a:ext cx="8046720" cy="45720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Decision support for caregivers, not a diagnosis.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How it works</a:t>
            </a:r>
            <a:endParaRPr lang="en-US" sz="3400" dirty="0"/>
          </a:p>
        </p:txBody>
      </p:sp>
      <p:sp>
        <p:nvSpPr>
          <p:cNvPr id="3" name="Flow box 1"/>
          <p:cNvSpPr/>
          <p:nvPr/>
        </p:nvSpPr>
        <p:spPr>
          <a:xfrm>
            <a:off x="502920" y="1371600"/>
            <a:ext cx="1417320" cy="237744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4" name="Flow 1 circle"/>
          <p:cNvSpPr/>
          <p:nvPr/>
        </p:nvSpPr>
        <p:spPr>
          <a:xfrm>
            <a:off x="932688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Flow 1 icon" descr="Flow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" y="169712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22402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65176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Kaggle stroke dataset and simulated vitals</a:t>
            </a:r>
            <a:endParaRPr lang="en-US" sz="1200" dirty="0"/>
          </a:p>
        </p:txBody>
      </p:sp>
      <p:sp>
        <p:nvSpPr>
          <p:cNvPr id="8" name="Arrow 1"/>
          <p:cNvSpPr/>
          <p:nvPr/>
        </p:nvSpPr>
        <p:spPr>
          <a:xfrm>
            <a:off x="1965960" y="2560320"/>
            <a:ext cx="18288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Flow box 2"/>
          <p:cNvSpPr/>
          <p:nvPr/>
        </p:nvSpPr>
        <p:spPr>
          <a:xfrm>
            <a:off x="2194560" y="1371600"/>
            <a:ext cx="1417320" cy="237744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0" name="Flow 2 circle"/>
          <p:cNvSpPr/>
          <p:nvPr/>
        </p:nvSpPr>
        <p:spPr>
          <a:xfrm>
            <a:off x="2624328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Flow 2 icon" descr="Flow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974" y="169712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286000" y="22402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 engine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286000" y="265176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XGBoost risk model and SHAP reasons</a:t>
            </a:r>
            <a:endParaRPr lang="en-US" sz="1200" dirty="0"/>
          </a:p>
        </p:txBody>
      </p:sp>
      <p:sp>
        <p:nvSpPr>
          <p:cNvPr id="14" name="Arrow 2"/>
          <p:cNvSpPr/>
          <p:nvPr/>
        </p:nvSpPr>
        <p:spPr>
          <a:xfrm>
            <a:off x="3657600" y="2560320"/>
            <a:ext cx="18288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Flow box 3"/>
          <p:cNvSpPr/>
          <p:nvPr/>
        </p:nvSpPr>
        <p:spPr>
          <a:xfrm>
            <a:off x="3886200" y="1371600"/>
            <a:ext cx="1417320" cy="237744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6" name="Flow 3 circle"/>
          <p:cNvSpPr/>
          <p:nvPr/>
        </p:nvSpPr>
        <p:spPr>
          <a:xfrm>
            <a:off x="4315968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Flow 3 icon" descr="Flow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614" y="169712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977640" y="22402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FastAPI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3977640" y="265176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predict, whatif, live and fall endpoints</a:t>
            </a:r>
            <a:endParaRPr lang="en-US" sz="1200" dirty="0"/>
          </a:p>
        </p:txBody>
      </p:sp>
      <p:sp>
        <p:nvSpPr>
          <p:cNvPr id="20" name="Arrow 3"/>
          <p:cNvSpPr/>
          <p:nvPr/>
        </p:nvSpPr>
        <p:spPr>
          <a:xfrm>
            <a:off x="5349240" y="2560320"/>
            <a:ext cx="18288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Flow box 4"/>
          <p:cNvSpPr/>
          <p:nvPr/>
        </p:nvSpPr>
        <p:spPr>
          <a:xfrm>
            <a:off x="5577840" y="1371600"/>
            <a:ext cx="1417320" cy="237744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22" name="Flow 4 circle"/>
          <p:cNvSpPr/>
          <p:nvPr/>
        </p:nvSpPr>
        <p:spPr>
          <a:xfrm>
            <a:off x="6007608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Flow 4 icon" descr="Flow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0254" y="1697126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669280" y="22402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Dashboard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5669280" y="265176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Risk card, live graph, what-if table</a:t>
            </a:r>
            <a:endParaRPr lang="en-US" sz="1200" dirty="0"/>
          </a:p>
        </p:txBody>
      </p:sp>
      <p:sp>
        <p:nvSpPr>
          <p:cNvPr id="26" name="Arrow 4"/>
          <p:cNvSpPr/>
          <p:nvPr/>
        </p:nvSpPr>
        <p:spPr>
          <a:xfrm>
            <a:off x="7040880" y="2560320"/>
            <a:ext cx="18288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Flow box 5"/>
          <p:cNvSpPr/>
          <p:nvPr/>
        </p:nvSpPr>
        <p:spPr>
          <a:xfrm>
            <a:off x="7269480" y="1371600"/>
            <a:ext cx="1417320" cy="237744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28" name="Flow 5 circle"/>
          <p:cNvSpPr/>
          <p:nvPr/>
        </p:nvSpPr>
        <p:spPr>
          <a:xfrm>
            <a:off x="7699248" y="15544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9" name="Flow 5 icon" descr="Flow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1894" y="1697126"/>
            <a:ext cx="263347" cy="263347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360920" y="22402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Alert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7360920" y="265176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Caregiver card on ALERT or fall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Everything runs locally, so the demo needs no internet.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AI/ML and tech stack</a:t>
            </a:r>
            <a:endParaRPr lang="en-US" sz="3400" dirty="0"/>
          </a:p>
        </p:txBody>
      </p:sp>
      <p:sp>
        <p:nvSpPr>
          <p:cNvPr id="3" name="Stack card 1"/>
          <p:cNvSpPr/>
          <p:nvPr/>
        </p:nvSpPr>
        <p:spPr>
          <a:xfrm>
            <a:off x="548640" y="128016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4" name="Stack 1 circle"/>
          <p:cNvSpPr/>
          <p:nvPr/>
        </p:nvSpPr>
        <p:spPr>
          <a:xfrm>
            <a:off x="77724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tack 1 icon" descr="Stack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59379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AI / ML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488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XGBoost with class-imbalance weighting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Monotonic constraints add medical common sense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SHAP gives a per-patient "why"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What-if re-scores with changed inputs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Low, Medium, High risk bands</a:t>
            </a:r>
            <a:endParaRPr lang="en-US" sz="1400" dirty="0"/>
          </a:p>
        </p:txBody>
      </p:sp>
      <p:sp>
        <p:nvSpPr>
          <p:cNvPr id="8" name="Stack card 2"/>
          <p:cNvSpPr/>
          <p:nvPr/>
        </p:nvSpPr>
        <p:spPr>
          <a:xfrm>
            <a:off x="4663440" y="128016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9" name="Stack 2 circle"/>
          <p:cNvSpPr/>
          <p:nvPr/>
        </p:nvSpPr>
        <p:spPr>
          <a:xfrm>
            <a:off x="4892040" y="146304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Stack 2 icon" descr="Stack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799" y="159379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Tech stack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21488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Python, pandas, scikit-learn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FastAPI and Uvicorn REST API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HTML/JS dashboard with live charts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Data: Kaggle Stroke set, 5,109 patients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Simulated vitals stream (ESP32 planned)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Explainable AI: why, and what if</a:t>
            </a:r>
            <a:endParaRPr lang="en-US" sz="3400" dirty="0"/>
          </a:p>
        </p:txBody>
      </p:sp>
      <p:sp>
        <p:nvSpPr>
          <p:cNvPr id="3" name="SHAP card"/>
          <p:cNvSpPr/>
          <p:nvPr/>
        </p:nvSpPr>
        <p:spPr>
          <a:xfrm>
            <a:off x="548640" y="1280160"/>
            <a:ext cx="393192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640080" y="1371600"/>
          <a:ext cx="37490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What-if card"/>
          <p:cNvSpPr/>
          <p:nvPr/>
        </p:nvSpPr>
        <p:spPr>
          <a:xfrm>
            <a:off x="4663440" y="1280160"/>
            <a:ext cx="393192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graphicFrame>
        <p:nvGraphicFramePr>
          <p:cNvPr id="6" name="Chart 1" descr=""/>
          <p:cNvGraphicFramePr/>
          <p:nvPr/>
        </p:nvGraphicFramePr>
        <p:xfrm>
          <a:off x="4754880" y="1371600"/>
          <a:ext cx="37490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Example patient: age 72, hypertension, smoker, BMI 31. Risk score 0.76 (HIGH). What-if values are model-based estimates, not guaranteed outcomes.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Demo 1: risk, reasons, what-if</a:t>
            </a:r>
            <a:endParaRPr lang="en-US" sz="3400" dirty="0"/>
          </a:p>
        </p:txBody>
      </p:sp>
      <p:sp>
        <p:nvSpPr>
          <p:cNvPr id="3" name="Screenshot frame"/>
          <p:cNvSpPr/>
          <p:nvPr/>
        </p:nvSpPr>
        <p:spPr>
          <a:xfrm>
            <a:off x="548640" y="1325880"/>
            <a:ext cx="5486400" cy="2414016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pic>
        <p:nvPicPr>
          <p:cNvPr id="4" name="Dashboard screenshot" descr="ElderShield dashboard showing 0.76 HIGH RISK with SHAP reasons and what-if ta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5303520" cy="222629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Sample patient: age 70, hypertension, smoker, BMI 31.</a:t>
            </a:r>
            <a:endParaRPr lang="en-US" sz="1200" dirty="0"/>
          </a:p>
        </p:txBody>
      </p:sp>
      <p:sp>
        <p:nvSpPr>
          <p:cNvPr id="6" name="Step circle 1"/>
          <p:cNvSpPr/>
          <p:nvPr/>
        </p:nvSpPr>
        <p:spPr>
          <a:xfrm>
            <a:off x="6355080" y="13258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35508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903720" y="132588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Risk score and band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0.76 shown as HIGH RISK.</a:t>
            </a:r>
            <a:endParaRPr lang="en-US" sz="1500" dirty="0"/>
          </a:p>
        </p:txBody>
      </p:sp>
      <p:sp>
        <p:nvSpPr>
          <p:cNvPr id="9" name="Step circle 2"/>
          <p:cNvSpPr/>
          <p:nvPr/>
        </p:nvSpPr>
        <p:spPr>
          <a:xfrm>
            <a:off x="6355080" y="24231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35508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242316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SHAP reasons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Age, hypertension and smoking push risk up.</a:t>
            </a:r>
            <a:endParaRPr lang="en-US" sz="1500" dirty="0"/>
          </a:p>
        </p:txBody>
      </p:sp>
      <p:sp>
        <p:nvSpPr>
          <p:cNvPr id="12" name="Step circle 3"/>
          <p:cNvSpPr/>
          <p:nvPr/>
        </p:nvSpPr>
        <p:spPr>
          <a:xfrm>
            <a:off x="6355080" y="35204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35508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903720" y="35204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What-if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Controlling hypertension or quitting smoking lowers the score.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Demo 2: live monitoring and alerts</a:t>
            </a:r>
            <a:endParaRPr lang="en-US" sz="3400" dirty="0"/>
          </a:p>
        </p:txBody>
      </p:sp>
      <p:sp>
        <p:nvSpPr>
          <p:cNvPr id="3" name="Screenshot frame"/>
          <p:cNvSpPr/>
          <p:nvPr/>
        </p:nvSpPr>
        <p:spPr>
          <a:xfrm>
            <a:off x="548640" y="1325880"/>
            <a:ext cx="5486400" cy="2414016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pic>
        <p:nvPicPr>
          <p:cNvPr id="4" name="Live screenshot" descr="ElderShield live page with red ALERT banner and rising blood pressure grap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5303520" cy="2225740"/>
          </a:xfrm>
          <a:prstGeom prst="rect">
            <a:avLst/>
          </a:prstGeom>
        </p:spPr>
      </p:pic>
      <p:sp>
        <p:nvSpPr>
          <p:cNvPr id="5" name="STABLE chip"/>
          <p:cNvSpPr/>
          <p:nvPr/>
        </p:nvSpPr>
        <p:spPr>
          <a:xfrm>
            <a:off x="548640" y="3931920"/>
            <a:ext cx="1600200" cy="365760"/>
          </a:xfrm>
          <a:prstGeom prst="roundRect">
            <a:avLst>
              <a:gd name="adj" fmla="val 25000"/>
            </a:avLst>
          </a:prstGeom>
          <a:solidFill>
            <a:schemeClr val="accent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39319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STABLE</a:t>
            </a:r>
            <a:endParaRPr lang="en-US" sz="1400" dirty="0"/>
          </a:p>
        </p:txBody>
      </p:sp>
      <p:sp>
        <p:nvSpPr>
          <p:cNvPr id="7" name="WARNING chip"/>
          <p:cNvSpPr/>
          <p:nvPr/>
        </p:nvSpPr>
        <p:spPr>
          <a:xfrm>
            <a:off x="2331720" y="3931920"/>
            <a:ext cx="1600200" cy="365760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331720" y="39319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WARNING</a:t>
            </a:r>
            <a:endParaRPr lang="en-US" sz="1400" dirty="0"/>
          </a:p>
        </p:txBody>
      </p:sp>
      <p:sp>
        <p:nvSpPr>
          <p:cNvPr id="9" name="ALERT chip"/>
          <p:cNvSpPr/>
          <p:nvPr/>
        </p:nvSpPr>
        <p:spPr>
          <a:xfrm>
            <a:off x="4114800" y="3931920"/>
            <a:ext cx="1600200" cy="36576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114800" y="39319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ALERT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3708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Vitals and the fall event are simulated for this demo.</a:t>
            </a:r>
            <a:endParaRPr lang="en-US" sz="1200" dirty="0"/>
          </a:p>
        </p:txBody>
      </p:sp>
      <p:sp>
        <p:nvSpPr>
          <p:cNvPr id="12" name="Step circle 1"/>
          <p:cNvSpPr/>
          <p:nvPr/>
        </p:nvSpPr>
        <p:spPr>
          <a:xfrm>
            <a:off x="6355080" y="132588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35508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903720" y="132588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Vitals vs baseline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BP, heart rate and SpO2 checked every 2 seconds.</a:t>
            </a:r>
            <a:endParaRPr lang="en-US" sz="1500" dirty="0"/>
          </a:p>
        </p:txBody>
      </p:sp>
      <p:sp>
        <p:nvSpPr>
          <p:cNvPr id="15" name="Step circle 2"/>
          <p:cNvSpPr/>
          <p:nvPr/>
        </p:nvSpPr>
        <p:spPr>
          <a:xfrm>
            <a:off x="6355080" y="24231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35508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903720" y="242316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Three states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Status moves from STABLE to WARNING to ALERT.</a:t>
            </a:r>
            <a:endParaRPr lang="en-US" sz="1500" dirty="0"/>
          </a:p>
        </p:txBody>
      </p:sp>
      <p:sp>
        <p:nvSpPr>
          <p:cNvPr id="18" name="Step circle 3"/>
          <p:cNvSpPr/>
          <p:nvPr/>
        </p:nvSpPr>
        <p:spPr>
          <a:xfrm>
            <a:off x="6355080" y="352044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35508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903720" y="35204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Fall alert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click sends a caregiver card with name and time.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Results on held-out test data</a:t>
            </a:r>
            <a:endParaRPr lang="en-US" sz="3400" dirty="0"/>
          </a:p>
        </p:txBody>
      </p:sp>
      <p:sp>
        <p:nvSpPr>
          <p:cNvPr id="3" name="Stat card 1"/>
          <p:cNvSpPr/>
          <p:nvPr/>
        </p:nvSpPr>
        <p:spPr>
          <a:xfrm>
            <a:off x="548640" y="1280160"/>
            <a:ext cx="384048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0.817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2801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AUROC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separates high and low risk well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548640" y="2240280"/>
            <a:ext cx="384048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24028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0.22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2240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PR-AUC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4.5x better than random (0.049)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548640" y="3200400"/>
            <a:ext cx="384048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2004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32004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Recall at 0.3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40 of 50 stroke cases caught</a:t>
            </a:r>
            <a:endParaRPr lang="en-US" sz="14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663440" y="1234440"/>
          <a:ext cx="40233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Test set: 1,022 patients, 50 strokes. Accuracy is not used because only about 5% are strokes. Lower threshold catches more strokes but raises false alarms, so we show risk bands.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Honest limits, clear next steps</a:t>
            </a:r>
            <a:endParaRPr lang="en-US" sz="3400" dirty="0"/>
          </a:p>
        </p:txBody>
      </p:sp>
      <p:sp>
        <p:nvSpPr>
          <p:cNvPr id="3" name="Close card 1"/>
          <p:cNvSpPr/>
          <p:nvPr/>
        </p:nvSpPr>
        <p:spPr>
          <a:xfrm>
            <a:off x="548640" y="1280160"/>
            <a:ext cx="3931920" cy="2926080"/>
          </a:xfrm>
          <a:prstGeom prst="roundRect">
            <a:avLst>
              <a:gd name="adj" fmla="val 3750"/>
            </a:avLst>
          </a:prstGeom>
          <a:solidFill>
            <a:schemeClr val="tx2"/>
          </a:solidFill>
          <a:ln/>
        </p:spPr>
      </p:sp>
      <p:sp>
        <p:nvSpPr>
          <p:cNvPr id="4" name="Close 1 circle"/>
          <p:cNvSpPr/>
          <p:nvPr/>
        </p:nvSpPr>
        <p:spPr>
          <a:xfrm>
            <a:off x="777240" y="13716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Close 1 icon" descr="Clos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49047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1168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Decision support, not a diagnosis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Only 249 stroke cases in the dataset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Needs validation on Indian elders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Vitals and fall alert are simulated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What-if is a model estimate, not causal</a:t>
            </a:r>
            <a:endParaRPr lang="en-US" sz="1500" dirty="0"/>
          </a:p>
        </p:txBody>
      </p:sp>
      <p:sp>
        <p:nvSpPr>
          <p:cNvPr id="8" name="Close card 2"/>
          <p:cNvSpPr/>
          <p:nvPr/>
        </p:nvSpPr>
        <p:spPr>
          <a:xfrm>
            <a:off x="4663440" y="1280160"/>
            <a:ext cx="3931920" cy="2926080"/>
          </a:xfrm>
          <a:prstGeom prst="roundRect">
            <a:avLst>
              <a:gd name="adj" fmla="val 3750"/>
            </a:avLst>
          </a:prstGeom>
          <a:solidFill>
            <a:schemeClr val="tx2"/>
          </a:solidFill>
          <a:ln/>
        </p:spPr>
      </p:sp>
      <p:sp>
        <p:nvSpPr>
          <p:cNvPr id="9" name="Close 2 circle"/>
          <p:cNvSpPr/>
          <p:nvPr/>
        </p:nvSpPr>
        <p:spPr>
          <a:xfrm>
            <a:off x="489204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Close 2 icon" descr="Clos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49047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201168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Real fall model on SisFall (1D-CNN)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Wearable: ESP32, MPU6050, MAX30102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SMS and WhatsApp caregiver alerts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Privacy: consent, DPDP Act 2023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Validate and calibrate with clinicians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Team The_Glitch</a:t>
            </a:r>
            <a:endParaRPr lang="en-US" sz="3400" dirty="0"/>
          </a:p>
        </p:txBody>
      </p:sp>
      <p:sp>
        <p:nvSpPr>
          <p:cNvPr id="3" name="Person card 1"/>
          <p:cNvSpPr/>
          <p:nvPr/>
        </p:nvSpPr>
        <p:spPr>
          <a:xfrm>
            <a:off x="548640" y="1280160"/>
            <a:ext cx="393192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/>
        </p:spPr>
      </p:sp>
      <p:sp>
        <p:nvSpPr>
          <p:cNvPr id="4" name="Avatar 1"/>
          <p:cNvSpPr/>
          <p:nvPr/>
        </p:nvSpPr>
        <p:spPr>
          <a:xfrm>
            <a:off x="822960" y="15544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1554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bg1"/>
                </a:solidFill>
              </a:rPr>
              <a:t>Deva Pandit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1"/>
                </a:solidFill>
              </a:rPr>
              <a:t>Team Leader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 R P G College</a:t>
            </a:r>
            <a:endParaRPr lang="en-US" sz="1600" dirty="0"/>
          </a:p>
        </p:txBody>
      </p:sp>
      <p:sp>
        <p:nvSpPr>
          <p:cNvPr id="8" name="Person card 2"/>
          <p:cNvSpPr/>
          <p:nvPr/>
        </p:nvSpPr>
        <p:spPr>
          <a:xfrm>
            <a:off x="4663440" y="1280160"/>
            <a:ext cx="393192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/>
        </p:spPr>
      </p:sp>
      <p:sp>
        <p:nvSpPr>
          <p:cNvPr id="9" name="Avatar 2"/>
          <p:cNvSpPr/>
          <p:nvPr/>
        </p:nvSpPr>
        <p:spPr>
          <a:xfrm>
            <a:off x="4937760" y="155448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3776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080760" y="1554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bg1"/>
                </a:solidFill>
              </a:rPr>
              <a:t>Puneet Singh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1"/>
                </a:solidFill>
              </a:rPr>
              <a:t>Team Member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743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Noida Institute of Engineering and Technology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|  Questions welcome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derShield">
  <a:themeElements>
    <a:clrScheme name="ElderShield">
      <a:dk1>
        <a:srgbClr val="0B1B33"/>
      </a:dk1>
      <a:lt1>
        <a:srgbClr val="FFFFFF"/>
      </a:lt1>
      <a:dk2>
        <a:srgbClr val="1B3358"/>
      </a:dk2>
      <a:lt2>
        <a:srgbClr val="EDF3F8"/>
      </a:lt2>
      <a:accent1>
        <a:srgbClr val="0FA3A3"/>
      </a:accent1>
      <a:accent2>
        <a:srgbClr val="E5484D"/>
      </a:accent2>
      <a:accent3>
        <a:srgbClr val="F5A524"/>
      </a:accent3>
      <a:accent4>
        <a:srgbClr val="2E9E6B"/>
      </a:accent4>
      <a:accent5>
        <a:srgbClr val="5B7C99"/>
      </a:accent5>
      <a:accent6>
        <a:srgbClr val="0B1B33"/>
      </a:accent6>
      <a:hlink>
        <a:srgbClr val="0FA3A3"/>
      </a:hlink>
      <a:folHlink>
        <a:srgbClr val="5B7C99"/>
      </a:folHlink>
    </a:clrScheme>
    <a:fontScheme name="ElderShiel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ElderShield - Team The_Glitch</dc:title>
  <dc:subject>PptxGenJS Presentation</dc:subject>
  <dc:creator>Team The_Glitch</dc:creator>
  <cp:lastModifiedBy>Team The_Glitch</cp:lastModifiedBy>
  <cp:revision>1</cp:revision>
  <dcterms:created xsi:type="dcterms:W3CDTF">2026-10-10T09:13:37Z</dcterms:created>
  <dcterms:modified xsi:type="dcterms:W3CDTF">2026-10-10T09:13:37Z</dcterms:modified>
</cp:coreProperties>
</file>